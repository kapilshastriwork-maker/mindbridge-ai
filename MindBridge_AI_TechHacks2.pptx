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" y="1371600"/>
            <a:ext cx="1280160" cy="12801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2801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MindBridge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3317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A78BFA"/>
                </a:solidFill>
                <a:latin typeface="Calibri"/>
              </a:rPr>
              <a:t>Empowering Mental Wellness Through Artificial Intelligence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3154680"/>
            <a:ext cx="73152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32918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0C8D8"/>
                </a:solidFill>
                <a:latin typeface="Calibri"/>
              </a:rPr>
              <a:t>TechHacks 2.0  •  Hack4Hope  •  SDG 3 — Good Health &amp; Well-being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4114800"/>
            <a:ext cx="201168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4133087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🌍 SDG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4114800"/>
            <a:ext cx="2011680" cy="502920"/>
          </a:xfrm>
          <a:prstGeom prst="rect">
            <a:avLst/>
          </a:prstGeom>
          <a:solidFill>
            <a:srgbClr val="1E294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59" y="4133087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🤖 AI-Powered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4114800"/>
            <a:ext cx="2011680" cy="502920"/>
          </a:xfrm>
          <a:prstGeom prst="rect">
            <a:avLst/>
          </a:prstGeom>
          <a:solidFill>
            <a:srgbClr val="1E294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59" y="4133087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🔒 100% Anonymous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C8D8"/>
                </a:solidFill>
                <a:latin typeface="Calibri"/>
              </a:rPr>
              <a:t>Built with React • Groq API • Llama 3.3 70B • TailwindCSS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The Mental Health Crisis is Global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0C8D8"/>
                </a:solidFill>
                <a:latin typeface="Calibri"/>
              </a:rPr>
              <a:t>Millions suffer in silence — access to care remains a privilege, not a right.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474720" cy="2560320"/>
          </a:xfrm>
          <a:prstGeom prst="rect">
            <a:avLst/>
          </a:prstGeom>
          <a:solidFill>
            <a:srgbClr val="1E294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EF4444"/>
                </a:solidFill>
                <a:latin typeface="Calibri"/>
              </a:rPr>
              <a:t>1 in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8D8"/>
                </a:solidFill>
                <a:latin typeface="Calibri"/>
              </a:rPr>
              <a:t>People worldwide experience
a mental health condition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3474720" cy="2560320"/>
          </a:xfrm>
          <a:prstGeom prst="rect">
            <a:avLst/>
          </a:prstGeom>
          <a:solidFill>
            <a:srgbClr val="1E294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373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317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EF4444"/>
                </a:solidFill>
                <a:latin typeface="Calibri"/>
              </a:rPr>
              <a:t>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004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8D8"/>
                </a:solidFill>
                <a:latin typeface="Calibri"/>
              </a:rPr>
              <a:t>Lack access to proper
mental healthcare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645920"/>
            <a:ext cx="3474720" cy="2560320"/>
          </a:xfrm>
          <a:prstGeom prst="rect">
            <a:avLst/>
          </a:prstGeom>
          <a:solidFill>
            <a:srgbClr val="1E294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9" y="17373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🇮🇳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23317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EF4444"/>
                </a:solidFill>
                <a:latin typeface="Calibri"/>
              </a:rPr>
              <a:t>0.3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004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8D8"/>
                </a:solidFill>
                <a:latin typeface="Calibri"/>
              </a:rPr>
              <a:t>Psychiatrists per 100,000
people in India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72000"/>
            <a:ext cx="112471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709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  <a:latin typeface="Calibri"/>
              </a:rPr>
              <a:t>💡 MindBridge AI bridges this gap — free, anonymous, available 24/7 for anyone with a browser.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Meet MindBridge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0C8D8"/>
                </a:solidFill>
                <a:latin typeface="Calibri"/>
              </a:rPr>
              <a:t>An anonymous, AI-powered mental wellness platform — available 24/7, completely free.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566160" cy="3200400"/>
          </a:xfrm>
          <a:prstGeom prst="rect">
            <a:avLst/>
          </a:prstGeom>
          <a:solidFill>
            <a:srgbClr val="1E294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56616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AI Chat Companion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6324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C8D8"/>
                </a:solidFill>
                <a:latin typeface="Calibri"/>
              </a:rPr>
              <a:t>Talk to our empathetic AI trained to support mental well-being with compassionate, contextual responses in real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3566160" cy="3200400"/>
          </a:xfrm>
          <a:prstGeom prst="rect">
            <a:avLst/>
          </a:prstGeom>
          <a:solidFill>
            <a:srgbClr val="1E294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645920"/>
            <a:ext cx="356616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7830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5146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Mood Tracker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06324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C8D8"/>
                </a:solidFill>
                <a:latin typeface="Calibri"/>
              </a:rPr>
              <a:t>Log daily moods, visualize emotional patterns over time, and identify triggers with beautiful interactive charts.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1645920"/>
            <a:ext cx="3566160" cy="3200400"/>
          </a:xfrm>
          <a:prstGeom prst="rect">
            <a:avLst/>
          </a:prstGeom>
          <a:solidFill>
            <a:srgbClr val="1E294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1645920"/>
            <a:ext cx="3566160" cy="914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17830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Calibri"/>
              </a:rPr>
              <a:t>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5146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Resource 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06324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C8D8"/>
                </a:solidFill>
                <a:latin typeface="Calibri"/>
              </a:rPr>
              <a:t>Curated mental health resources, verified Indian crisis helplines (iCall, Vandrevala), self-care guides.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Simple. Private. Powerful.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0C8D8"/>
                </a:solidFill>
                <a:latin typeface="Calibri"/>
              </a:rPr>
              <a:t>Three steps to start your wellness journey — no sign-up, no data stored, no cost.</a:t>
            </a:r>
          </a:p>
        </p:txBody>
      </p:sp>
      <p:sp>
        <p:nvSpPr>
          <p:cNvPr id="6" name="Oval 5"/>
          <p:cNvSpPr/>
          <p:nvPr/>
        </p:nvSpPr>
        <p:spPr>
          <a:xfrm>
            <a:off x="1554480" y="182880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828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60320"/>
            <a:ext cx="3566160" cy="2743200"/>
          </a:xfrm>
          <a:prstGeom prst="rect">
            <a:avLst/>
          </a:prstGeom>
          <a:solidFill>
            <a:srgbClr val="1E294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65176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Calibri"/>
              </a:rPr>
              <a:t>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474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Stay Anonymous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0C8D8"/>
                </a:solidFill>
                <a:latin typeface="Calibri"/>
              </a:rPr>
              <a:t>No sign-up required. No personal data collected. Your privacy is our promise.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35661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7C3AED"/>
                </a:solidFill>
                <a:latin typeface="Calibri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0" y="182880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1828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2560320"/>
            <a:ext cx="3566160" cy="2743200"/>
          </a:xfrm>
          <a:prstGeom prst="rect">
            <a:avLst/>
          </a:prstGeom>
          <a:solidFill>
            <a:srgbClr val="1E294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0" y="265176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474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Talk Freely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0690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0C8D8"/>
                </a:solidFill>
                <a:latin typeface="Calibri"/>
              </a:rPr>
              <a:t>Chat with our AI companion 24/7. Share anything — it listens without judgment.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35661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7C3AED"/>
                </a:solidFill>
                <a:latin typeface="Calibri"/>
              </a:rP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9418319" y="182880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19" y="1828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2560320"/>
            <a:ext cx="3566160" cy="2743200"/>
          </a:xfrm>
          <a:prstGeom prst="rect">
            <a:avLst/>
          </a:prstGeom>
          <a:solidFill>
            <a:srgbClr val="1E294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265176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Calibri"/>
              </a:rPr>
              <a:t>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3474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Track &amp; Grow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19" y="40690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0C8D8"/>
                </a:solidFill>
                <a:latin typeface="Calibri"/>
              </a:rPr>
              <a:t>Log moods daily, visualize patterns, and access curated resources to grow.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Built With Modern Technology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03520" cy="4114800"/>
          </a:xfrm>
          <a:prstGeom prst="rect">
            <a:avLst/>
          </a:prstGeom>
          <a:solidFill>
            <a:srgbClr val="1E294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  <a:latin typeface="Calibri"/>
              </a:rPr>
              <a:t>⚡ 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54864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476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React + Vite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86584"/>
            <a:ext cx="54864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6829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TailwindCSS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07208"/>
            <a:ext cx="54864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88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Framer Motion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27832"/>
            <a:ext cx="54864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095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Recharts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648456"/>
            <a:ext cx="54864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301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React Router DOM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280160"/>
            <a:ext cx="5303520" cy="4114800"/>
          </a:xfrm>
          <a:prstGeom prst="rect">
            <a:avLst/>
          </a:prstGeom>
          <a:solidFill>
            <a:srgbClr val="1E294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3716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78BFA"/>
                </a:solidFill>
                <a:latin typeface="Calibri"/>
              </a:rPr>
              <a:t>🤖 AI &amp; Intelligence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965960"/>
            <a:ext cx="54864" cy="2560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19476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Groq API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2386584"/>
            <a:ext cx="54864" cy="2560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236829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Llama 3.3 70B Model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2807208"/>
            <a:ext cx="54864" cy="2560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2788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Real-time Streaming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3227832"/>
            <a:ext cx="54864" cy="2560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32095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Context-aware Chat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3648456"/>
            <a:ext cx="54864" cy="2560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36301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Crisis Detection Logic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577840"/>
            <a:ext cx="11247120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65099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⚡ Real AI responses in under 1 second  •  Zero backend required  •  Runs entirely in the browser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Solving Real Global Goals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7132320" cy="2468880"/>
          </a:xfrm>
          <a:prstGeom prst="rect">
            <a:avLst/>
          </a:prstGeom>
          <a:solidFill>
            <a:srgbClr val="1E294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13232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PRIMARY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6766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🌿 SDG 3 — Good Health &amp; Well-being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6583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0C8D8"/>
                </a:solidFill>
                <a:latin typeface="Calibri"/>
              </a:rPr>
              <a:t>Target 3.4: "Reduce mortality from non-communicable diseases
and promote mental health and well-being."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✓ Direct alignment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40480"/>
            <a:ext cx="7132320" cy="1828800"/>
          </a:xfrm>
          <a:prstGeom prst="rect">
            <a:avLst/>
          </a:prstGeom>
          <a:solidFill>
            <a:srgbClr val="1E294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7132320" cy="8229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8679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SECONDARY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60520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⚖️ SDG 10 — Reduced Inequalities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0916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C8D8"/>
                </a:solidFill>
                <a:latin typeface="Calibri"/>
              </a:rPr>
              <a:t>Making mental healthcare accessible regardless of income, location, or background.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280160"/>
            <a:ext cx="3474720" cy="4389120"/>
          </a:xfrm>
          <a:prstGeom prst="rect">
            <a:avLst/>
          </a:prstGeom>
          <a:solidFill>
            <a:srgbClr val="1E294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371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Our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202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🌍 Global accessibility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39572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💰 Zero cost to 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87121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🔒 Privacy-first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346704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📱 Any device, anywhere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822191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🆘 Built-in crisis helplines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Built to Scale Globally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0C8D8"/>
                </a:solidFill>
                <a:latin typeface="Calibri"/>
              </a:rPr>
              <a:t>From a hackathon prototype to a platform that can serve millions.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3657600" cy="1691640"/>
          </a:xfrm>
          <a:prstGeom prst="rect">
            <a:avLst/>
          </a:prstGeom>
          <a:solidFill>
            <a:srgbClr val="1E294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7373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Zero Cost Forever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945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D8"/>
                </a:solidFill>
                <a:latin typeface="Calibri"/>
              </a:rPr>
              <a:t>Free for all users, always. Powered by free-tier Groq API — no subscriptions, no paywalls.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645920"/>
            <a:ext cx="3657600" cy="1691640"/>
          </a:xfrm>
          <a:prstGeom prst="rect">
            <a:avLst/>
          </a:prstGeom>
          <a:solidFill>
            <a:srgbClr val="1E294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73736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7373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Universal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945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D8"/>
                </a:solidFill>
                <a:latin typeface="Calibri"/>
              </a:rPr>
              <a:t>Works on any device with a browser — smartphones, tablets, laptops. No app install needed.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645920"/>
            <a:ext cx="3657600" cy="1691640"/>
          </a:xfrm>
          <a:prstGeom prst="rect">
            <a:avLst/>
          </a:prstGeom>
          <a:solidFill>
            <a:srgbClr val="1E294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73736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7373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Crisis-Ready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1945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D8"/>
                </a:solidFill>
                <a:latin typeface="Calibri"/>
              </a:rPr>
              <a:t>iCall (9152987821) and Vandrevala Foundation (1860-2662-345) helplines built directly into the UI.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20439"/>
            <a:ext cx="3657600" cy="1691640"/>
          </a:xfrm>
          <a:prstGeom prst="rect">
            <a:avLst/>
          </a:prstGeom>
          <a:solidFill>
            <a:srgbClr val="1E294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611879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61187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Multilingual Ready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069079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D8"/>
                </a:solidFill>
                <a:latin typeface="Calibri"/>
              </a:rPr>
              <a:t>Architecture supports easy expansion to Hindi, Tamil, Telugu and other regional languages.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3520439"/>
            <a:ext cx="3657600" cy="1691640"/>
          </a:xfrm>
          <a:prstGeom prst="rect">
            <a:avLst/>
          </a:prstGeom>
          <a:solidFill>
            <a:srgbClr val="1E294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3611879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361187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NGO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69079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D8"/>
                </a:solidFill>
                <a:latin typeface="Calibri"/>
              </a:rPr>
              <a:t>Designed to integrate with mental health NGOs, schools, and community healthcare providers.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3520439"/>
            <a:ext cx="3657600" cy="1691640"/>
          </a:xfrm>
          <a:prstGeom prst="rect">
            <a:avLst/>
          </a:prstGeom>
          <a:solidFill>
            <a:srgbClr val="1E294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3611879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361187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Data Insights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069079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D8"/>
                </a:solidFill>
                <a:latin typeface="Calibri"/>
              </a:rPr>
              <a:t>Mood analytics help users and (optionally) counselors identify patterns and early warning signs.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718304" y="731520"/>
            <a:ext cx="2743200" cy="2743200"/>
          </a:xfrm>
          <a:prstGeom prst="ellipse">
            <a:avLst/>
          </a:prstGeom>
          <a:solidFill>
            <a:srgbClr val="2D1B69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94960" y="109728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MindBridge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348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A78BFA"/>
                </a:solidFill>
                <a:latin typeface="Calibri"/>
              </a:rPr>
              <a:t>Your Mental Wellness, Powered by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5212080"/>
            <a:ext cx="576072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  <a:latin typeface="Calibri"/>
              </a:rPr>
              <a:t>🌿 SDG 3 — Good Health &amp; Well-being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0C8D8"/>
                </a:solidFill>
                <a:latin typeface="Calibri"/>
              </a:rPr>
              <a:t>Built at TechHacks 2.0  |  Hack4Hope  |  SRM Institute of Science &amp;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